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60" d="100"/>
          <a:sy n="60" d="100"/>
        </p:scale>
        <p:origin x="1555" y="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3/26/2021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612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3/26/2021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719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3/26/2021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2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3/26/2021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744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3/26/2021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5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3/26/2021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012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3/26/2021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616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3/26/2021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976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3/26/2021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40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3/26/2021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68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3/26/2021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709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3/26/2021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1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25" r:id="rId4"/>
    <p:sldLayoutId id="2147483726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vTQ-zJHY9M?start=62&amp;feature=oembed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2F176A-9349-4CD7-8042-59C0200C8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55" y="-4078"/>
            <a:ext cx="4641096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22C61541-D494-45C4-8A64-A6E9798A90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633" b="-1"/>
          <a:stretch/>
        </p:blipFill>
        <p:spPr>
          <a:xfrm>
            <a:off x="20" y="1074544"/>
            <a:ext cx="7562606" cy="506986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E9A171F-91A7-42F8-B25C-E38B244E7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4738AB-B6BE-4867-889A-52CE4AC8D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5468" y="1095508"/>
            <a:ext cx="46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A91391-29B9-45A5-B3A7-BF44A3AF8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3503" y="1709530"/>
            <a:ext cx="3754671" cy="2528515"/>
          </a:xfrm>
        </p:spPr>
        <p:txBody>
          <a:bodyPr anchor="b"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3100" dirty="0">
                <a:solidFill>
                  <a:schemeClr val="tx2"/>
                </a:solidFill>
              </a:rPr>
              <a:t>Introduction to bone marrow aspiration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199112-FD6F-43B0-80C9-8E68EE0D5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6914" y="4238046"/>
            <a:ext cx="3806919" cy="1741404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Dr. </a:t>
            </a:r>
            <a:r>
              <a:rPr lang="en-US" sz="2000" dirty="0" err="1">
                <a:solidFill>
                  <a:schemeClr val="tx2"/>
                </a:solidFill>
              </a:rPr>
              <a:t>Hemo</a:t>
            </a:r>
            <a:r>
              <a:rPr lang="en-US" sz="2000" dirty="0">
                <a:solidFill>
                  <a:schemeClr val="tx2"/>
                </a:solidFill>
              </a:rPr>
              <a:t>, UCF COM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851D67-7085-40E2-B146-F91433A28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405"/>
            <a:ext cx="7534656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5AAE23-FCB6-4663-907C-0110B0FD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5468" y="6167615"/>
            <a:ext cx="46034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969C2C-E7E3-4052-87D4-61E733EC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60369F-A41B-4D6E-8990-30E2715C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1459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11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73DE25-80C3-4902-B45E-B6BD3368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bone marrow aspiration video</a:t>
            </a:r>
          </a:p>
        </p:txBody>
      </p:sp>
      <p:pic>
        <p:nvPicPr>
          <p:cNvPr id="7" name="Online Media 6" title="The Bone Marrow Aspiration">
            <a:hlinkClick r:id="" action="ppaction://media"/>
            <a:extLst>
              <a:ext uri="{FF2B5EF4-FFF2-40B4-BE49-F238E27FC236}">
                <a16:creationId xmlns:a16="http://schemas.microsoft.com/office/drawing/2014/main" id="{70E5C093-9A3A-4312-9290-2BE6C305E43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221288" y="1520826"/>
            <a:ext cx="6462389" cy="36512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D28186A-41B1-49FD-9FFF-AED1A579E098}"/>
              </a:ext>
            </a:extLst>
          </p:cNvPr>
          <p:cNvSpPr txBox="1"/>
          <p:nvPr/>
        </p:nvSpPr>
        <p:spPr>
          <a:xfrm>
            <a:off x="6096026" y="5639206"/>
            <a:ext cx="5601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Warning. </a:t>
            </a: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</a:rPr>
              <a:t>procedure in this video </a:t>
            </a: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may be disturbing to some viewers.</a:t>
            </a:r>
            <a:endParaRPr lang="en-US" dirty="0"/>
          </a:p>
        </p:txBody>
      </p:sp>
      <p:pic>
        <p:nvPicPr>
          <p:cNvPr id="12" name="Graphic 11" descr="Warning with solid fill">
            <a:extLst>
              <a:ext uri="{FF2B5EF4-FFF2-40B4-BE49-F238E27FC236}">
                <a16:creationId xmlns:a16="http://schemas.microsoft.com/office/drawing/2014/main" id="{781E264F-50C3-4C01-BFB7-D92DAF73B6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2282" y="5710754"/>
            <a:ext cx="503237" cy="50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5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73DE25-80C3-4902-B45E-B6BD3368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Bone marrow aspiration video</a:t>
            </a:r>
          </a:p>
        </p:txBody>
      </p:sp>
    </p:spTree>
    <p:extLst>
      <p:ext uri="{BB962C8B-B14F-4D97-AF65-F5344CB8AC3E}">
        <p14:creationId xmlns:p14="http://schemas.microsoft.com/office/powerpoint/2010/main" val="415191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73DE25-80C3-4902-B45E-B6BD3368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Polling Question 1</a:t>
            </a:r>
            <a:br>
              <a:rPr lang="en-US" dirty="0"/>
            </a:br>
            <a:r>
              <a:rPr lang="en-US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Which of the following is the most favorable prognosis for this disease?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8EBCE4-2B1F-4E80-8F2C-003D7CBA3D0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725" y="219071"/>
            <a:ext cx="6724650" cy="5086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1CBBFC-ABB5-489B-9521-92DEAB535C85}"/>
              </a:ext>
            </a:extLst>
          </p:cNvPr>
          <p:cNvSpPr txBox="1"/>
          <p:nvPr/>
        </p:nvSpPr>
        <p:spPr>
          <a:xfrm>
            <a:off x="6638925" y="4237764"/>
            <a:ext cx="4752975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spcAft>
                <a:spcPts val="600"/>
              </a:spcAft>
              <a:buFont typeface="+mj-lt"/>
              <a:buAutoNum type="alphaUcPeriod"/>
            </a:pPr>
            <a:r>
              <a:rPr lang="en-US" sz="2000" spc="1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hypodiploidy 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indent="-342900">
              <a:spcAft>
                <a:spcPts val="600"/>
              </a:spcAft>
              <a:buFont typeface="+mj-lt"/>
              <a:buAutoNum type="alphaUcPeriod"/>
            </a:pPr>
            <a:r>
              <a:rPr lang="en-US" sz="2000" spc="1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t(14;18) 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indent="-342900">
              <a:spcAft>
                <a:spcPts val="600"/>
              </a:spcAft>
              <a:buFont typeface="+mj-lt"/>
              <a:buAutoNum type="alphaUcPeriod"/>
            </a:pPr>
            <a:r>
              <a:rPr lang="en-US" sz="2000" spc="1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t(11q;23)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indent="-342900">
              <a:spcAft>
                <a:spcPts val="600"/>
              </a:spcAft>
              <a:buFont typeface="+mj-lt"/>
              <a:buAutoNum type="alphaUcPeriod"/>
            </a:pPr>
            <a:r>
              <a:rPr lang="en-US" sz="2000" spc="1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t(8,14)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indent="-342900">
              <a:spcAft>
                <a:spcPts val="600"/>
              </a:spcAft>
              <a:buFont typeface="+mj-lt"/>
              <a:buAutoNum type="alphaUcPeriod"/>
            </a:pPr>
            <a:r>
              <a:rPr lang="en-US" sz="2000" spc="1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t(9;22)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indent="-342900">
              <a:spcAft>
                <a:spcPts val="600"/>
              </a:spcAft>
              <a:buFont typeface="+mj-lt"/>
              <a:buAutoNum type="alphaUcPeriod"/>
            </a:pPr>
            <a:r>
              <a:rPr lang="en-US" sz="2000" spc="1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t(12;21</a:t>
            </a:r>
            <a:r>
              <a:rPr lang="en-US" sz="2000" spc="10" dirty="0"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542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73DE25-80C3-4902-B45E-B6BD3368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Polling Question 1</a:t>
            </a:r>
            <a:br>
              <a:rPr lang="en-US" dirty="0"/>
            </a:br>
            <a:r>
              <a:rPr lang="en-US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Which of the following is the most favorable prognosis for this disease?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19383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AnalogousFromDarkSeedLeftStep">
      <a:dk1>
        <a:srgbClr val="000000"/>
      </a:dk1>
      <a:lt1>
        <a:srgbClr val="FFFFFF"/>
      </a:lt1>
      <a:dk2>
        <a:srgbClr val="3D2323"/>
      </a:dk2>
      <a:lt2>
        <a:srgbClr val="E6E2E8"/>
      </a:lt2>
      <a:accent1>
        <a:srgbClr val="55B520"/>
      </a:accent1>
      <a:accent2>
        <a:srgbClr val="8AAE13"/>
      </a:accent2>
      <a:accent3>
        <a:srgbClr val="BB9E21"/>
      </a:accent3>
      <a:accent4>
        <a:srgbClr val="D56217"/>
      </a:accent4>
      <a:accent5>
        <a:srgbClr val="E7292D"/>
      </a:accent5>
      <a:accent6>
        <a:srgbClr val="D5176A"/>
      </a:accent6>
      <a:hlink>
        <a:srgbClr val="BF523F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111C91C3F1324EAA641E163BC16F37" ma:contentTypeVersion="12" ma:contentTypeDescription="Create a new document." ma:contentTypeScope="" ma:versionID="1c8a5ef9438795d38bafd94ce27c839d">
  <xsd:schema xmlns:xsd="http://www.w3.org/2001/XMLSchema" xmlns:xs="http://www.w3.org/2001/XMLSchema" xmlns:p="http://schemas.microsoft.com/office/2006/metadata/properties" xmlns:ns2="960c2cdf-7538-4d87-abd1-a823d00af813" xmlns:ns3="e6b67e13-9978-4a6f-969a-025a7026b893" targetNamespace="http://schemas.microsoft.com/office/2006/metadata/properties" ma:root="true" ma:fieldsID="210623f288afcadd15de4460ae938571" ns2:_="" ns3:_="">
    <xsd:import namespace="960c2cdf-7538-4d87-abd1-a823d00af813"/>
    <xsd:import namespace="e6b67e13-9978-4a6f-969a-025a7026b8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0c2cdf-7538-4d87-abd1-a823d00af8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ed757968-b5e0-43bf-af52-13bc706514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b67e13-9978-4a6f-969a-025a7026b89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ef14909-c3c8-4e1c-92d0-334fe73eb737}" ma:internalName="TaxCatchAll" ma:showField="CatchAllData" ma:web="e6b67e13-9978-4a6f-969a-025a7026b8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0c2cdf-7538-4d87-abd1-a823d00af813">
      <Terms xmlns="http://schemas.microsoft.com/office/infopath/2007/PartnerControls"/>
    </lcf76f155ced4ddcb4097134ff3c332f>
    <TaxCatchAll xmlns="e6b67e13-9978-4a6f-969a-025a7026b893" xsi:nil="true"/>
  </documentManagement>
</p:properties>
</file>

<file path=customXml/itemProps1.xml><?xml version="1.0" encoding="utf-8"?>
<ds:datastoreItem xmlns:ds="http://schemas.openxmlformats.org/officeDocument/2006/customXml" ds:itemID="{32B0EE2E-CE2C-432A-9380-CC9B9B9240B5}"/>
</file>

<file path=customXml/itemProps2.xml><?xml version="1.0" encoding="utf-8"?>
<ds:datastoreItem xmlns:ds="http://schemas.openxmlformats.org/officeDocument/2006/customXml" ds:itemID="{13FDBF87-ADFD-469D-B5D8-FF45B7DCEC06}"/>
</file>

<file path=customXml/itemProps3.xml><?xml version="1.0" encoding="utf-8"?>
<ds:datastoreItem xmlns:ds="http://schemas.openxmlformats.org/officeDocument/2006/customXml" ds:itemID="{EC7A8382-2F01-4E8D-97DB-13E67B81505E}"/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98</TotalTime>
  <Words>90</Words>
  <Application>Microsoft Office PowerPoint</Application>
  <PresentationFormat>Widescreen</PresentationFormat>
  <Paragraphs>13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Meiryo</vt:lpstr>
      <vt:lpstr>Arial</vt:lpstr>
      <vt:lpstr>Corbel</vt:lpstr>
      <vt:lpstr>Times New Roman</vt:lpstr>
      <vt:lpstr>ShojiVTI</vt:lpstr>
      <vt:lpstr>Introduction to bone marrow aspiration</vt:lpstr>
      <vt:lpstr>bone marrow aspiration video</vt:lpstr>
      <vt:lpstr>Bone marrow aspiration video</vt:lpstr>
      <vt:lpstr>Polling Question 1 Which of the following is the most favorable prognosis for this disease? </vt:lpstr>
      <vt:lpstr>Polling Question 1 Which of the following is the most favorable prognosis for this disease?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bone marrow aspiration</dc:title>
  <dc:creator>Melissa Cowan</dc:creator>
  <cp:lastModifiedBy>Melissa Cowan</cp:lastModifiedBy>
  <cp:revision>5</cp:revision>
  <dcterms:created xsi:type="dcterms:W3CDTF">2021-03-26T20:43:05Z</dcterms:created>
  <dcterms:modified xsi:type="dcterms:W3CDTF">2021-03-26T22:21:44Z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0x010100C5111C91C3F1324EAA641E163BC16F37</vt:lpwstr>
  </property>
</Properties>
</file>